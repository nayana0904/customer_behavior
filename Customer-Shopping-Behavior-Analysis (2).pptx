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3.png"/><Relationship Id="rId6" Type="http://schemas.openxmlformats.org/officeDocument/2006/relationships/image" Target="../media/image-10-4.svg"/><Relationship Id="rId7" Type="http://schemas.openxmlformats.org/officeDocument/2006/relationships/image" Target="../media/image-10-3.png"/><Relationship Id="rId8" Type="http://schemas.openxmlformats.org/officeDocument/2006/relationships/image" Target="../media/image-10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analysis of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customer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uncovering revenue patterns, segmentation insights, and actionable opportunities for data-driven growth.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3644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2845594"/>
            <a:ext cx="358865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About the Dataset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47818" y="3155553"/>
            <a:ext cx="3588652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rich transactional dataset covering the full customer journey — from demographics to post-purchase behavior.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0909"/>
            <a:ext cx="3557796" cy="954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550" y="5525790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 Transactions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92550" y="5796657"/>
            <a:ext cx="31718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Spanning 4 product categories with complete purchase records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900" y="5370909"/>
            <a:ext cx="3557796" cy="9540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47975" y="5525790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Features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47975" y="5796657"/>
            <a:ext cx="31718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Demographics, purchase details, shipping preferences, and behavioral signals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325" y="5370909"/>
            <a:ext cx="3557895" cy="9540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03399" y="5525790"/>
            <a:ext cx="317194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Quality Note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203399" y="5796657"/>
            <a:ext cx="317194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missing Review Rating values — imputed using per-category median to preserve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02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Distribution: Gender Gap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2295"/>
            <a:ext cx="5243481" cy="377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089" y="1356122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Striking Imbalance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3089" y="1730276"/>
            <a:ext cx="5243481" cy="148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account for </a:t>
            </a:r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 — 67.7% of total revenue</a:t>
            </a:r>
            <a:pPr algn="l" indent="0" marL="0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while female customers contribute $75,191 (32.3%). This 2:1 ratio represents one of the most significant findings in the dataset.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gap signals a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significant opportunity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redesign engagement strategies targeting female customers — through personalization, targeted offers, or category expansion.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5438180"/>
            <a:ext cx="5369584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4289" y="5600998"/>
            <a:ext cx="50439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$157,890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289" y="5923260"/>
            <a:ext cx="50439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revenue share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60636" y="5438180"/>
            <a:ext cx="5369584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3450" y="5600998"/>
            <a:ext cx="50439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$75,191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23450" y="5923260"/>
            <a:ext cx="504395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revenue share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840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Impact on Revenue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564779"/>
            <a:ext cx="3057945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2,847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661475" y="2301677"/>
            <a:ext cx="30579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Non-Subscribers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646958"/>
            <a:ext cx="30579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$170,436 revenue — </a:t>
            </a:r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73.1%</a:t>
            </a:r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900291" y="1564779"/>
            <a:ext cx="3058044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1,053</a:t>
            </a:r>
            <a:endParaRPr lang="en-US" sz="4250" dirty="0"/>
          </a:p>
        </p:txBody>
      </p:sp>
      <p:sp>
        <p:nvSpPr>
          <p:cNvPr id="8" name="Text 5"/>
          <p:cNvSpPr/>
          <p:nvPr/>
        </p:nvSpPr>
        <p:spPr>
          <a:xfrm>
            <a:off x="3900291" y="2301677"/>
            <a:ext cx="3058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00291" y="2646958"/>
            <a:ext cx="3058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$62,645 revenue — </a:t>
            </a:r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26.9%</a:t>
            </a:r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0883" y="3267075"/>
            <a:ext cx="3057945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$0.38</a:t>
            </a:r>
            <a:endParaRPr lang="en-US" sz="4250" dirty="0"/>
          </a:p>
        </p:txBody>
      </p:sp>
      <p:sp>
        <p:nvSpPr>
          <p:cNvPr id="11" name="Text 8"/>
          <p:cNvSpPr/>
          <p:nvPr/>
        </p:nvSpPr>
        <p:spPr>
          <a:xfrm>
            <a:off x="2280883" y="4003973"/>
            <a:ext cx="30579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Spend Difference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80883" y="4349254"/>
            <a:ext cx="30579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$59.87 (non-sub) vs $59.49 (sub) — nearly identical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008066"/>
            <a:ext cx="6296860" cy="1101527"/>
          </a:xfrm>
          <a:prstGeom prst="roundRect">
            <a:avLst>
              <a:gd name="adj" fmla="val 6306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" y="5220791"/>
            <a:ext cx="206667" cy="1652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98731" y="5194002"/>
            <a:ext cx="559430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finding: Subscription status does not drive higher per-transaction spend. The program's value proposition may need to be re-evaluated — it is not currently differentiating customer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317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 Breakdown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07046"/>
            <a:ext cx="5211037" cy="3750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5533" y="1584821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 Profiles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14779" y="2133302"/>
            <a:ext cx="4621791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 — 79.9%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(3,116 customers)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14779" y="2596654"/>
            <a:ext cx="4621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purchasers with strong engagement signals. The backbone of current revenue.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914779" y="3591123"/>
            <a:ext cx="4621791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 — 18.0% (701 customers)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14779" y="4054475"/>
            <a:ext cx="4621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purchase history. A conversion target to move into the loyal tier.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14779" y="5048945"/>
            <a:ext cx="4621791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— 2.1% (83 customers)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14779" y="5512296"/>
            <a:ext cx="4621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Critically low new acquisition rate. Indicates a significant pipeline risk for long-term growth.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48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Top-Performing Products by Rating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47192"/>
            <a:ext cx="1137911" cy="1137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59559"/>
            <a:ext cx="258637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Gloves — 3.86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3003451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Highest-rated product in the catalog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67" y="1347192"/>
            <a:ext cx="1137911" cy="1137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2267" y="2659559"/>
            <a:ext cx="258637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Sandals — 3.84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22267" y="3003451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seasonal performer with high satisfaction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059" y="1347192"/>
            <a:ext cx="1137911" cy="11379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3059" y="2659559"/>
            <a:ext cx="258637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Boots — 3.82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83059" y="3003451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quality perception across reviewers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850" y="1347192"/>
            <a:ext cx="1137911" cy="11379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3850" y="2659559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 — 3.80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43850" y="2997101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Also leads discount dependency analysis at 50%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765748"/>
            <a:ext cx="1137911" cy="11379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078115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Skirt — 3.78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5415657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Rounds out the top 5; above category average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356682" y="6055816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average review rating across all products: </a:t>
            </a:r>
            <a:pPr algn="ctr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3.75 / 5.0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Dependency Analysis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69206"/>
            <a:ext cx="5257867" cy="37846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8703" y="1255316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Discount-Heavy Ecosystem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78703" y="1592064"/>
            <a:ext cx="5257867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57% of all purchases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(2,223 out of 3,900) involved a discount — a rate that raises serious margin sustainability concerns.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78703" y="2125464"/>
            <a:ext cx="5257867" cy="884833"/>
          </a:xfrm>
          <a:prstGeom prst="roundRect">
            <a:avLst>
              <a:gd name="adj" fmla="val 6869"/>
            </a:avLst>
          </a:prstGeom>
          <a:solidFill>
            <a:srgbClr val="FFB3B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360" y="2291755"/>
            <a:ext cx="180871" cy="144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48889" y="2261295"/>
            <a:ext cx="464302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Heavy reliance on discounts across 57% of transactions risks training customers to wait for promotions — directly compressing long-term margins.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03143"/>
            <a:ext cx="3549065" cy="1028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1380" y="5466854"/>
            <a:ext cx="3145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 — 50%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901380" y="5759351"/>
            <a:ext cx="3145453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discount dependency in catalog; top-rated product yet most discounted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1265" y="5303143"/>
            <a:ext cx="3549065" cy="1028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61170" y="5466854"/>
            <a:ext cx="3145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Sneakers — 49.66%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61170" y="5759351"/>
            <a:ext cx="3145453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Near-universal discounting in this high-volume category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1056" y="5303143"/>
            <a:ext cx="3549065" cy="1028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0961" y="5466854"/>
            <a:ext cx="3145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Coat — 49.07%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8220961" y="5759351"/>
            <a:ext cx="3145453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heavy discounting compressing potential margins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6636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High-Spending Discount Users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61475" y="1492052"/>
            <a:ext cx="629686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counterintuitive segment emerges from the data: customers who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used discounts but still spent above average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208312"/>
            <a:ext cx="3068065" cy="1533029"/>
          </a:xfrm>
          <a:prstGeom prst="roundRect">
            <a:avLst>
              <a:gd name="adj" fmla="val 47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2048" y="2388890"/>
            <a:ext cx="27069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 Customers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2048" y="2757388"/>
            <a:ext cx="270691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a discount AND spent above the $59.76 average threshold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890171" y="2208312"/>
            <a:ext cx="3068164" cy="1533029"/>
          </a:xfrm>
          <a:prstGeom prst="roundRect">
            <a:avLst>
              <a:gd name="adj" fmla="val 477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0744" y="2388890"/>
            <a:ext cx="27070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21.5% of Transactions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70744" y="2757388"/>
            <a:ext cx="270701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Represents more than 1 in 5 purchases across the entire dataset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3901976"/>
            <a:ext cx="6296860" cy="1265238"/>
          </a:xfrm>
          <a:prstGeom prst="roundRect">
            <a:avLst>
              <a:gd name="adj" fmla="val 57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2048" y="4082554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Price-Insensitive Signal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2048" y="4451052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customers spend high even with discounts — they likely do not need the discount to convert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1475" y="5347891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Strategic opportunity: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Identify and suppress discount delivery for this segment to protect revenue per transaction. Their behavior indicates discount removal will not reduce purchase likelihood.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8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Type &amp; Purchase Amount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57561"/>
            <a:ext cx="5770220" cy="39602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3077" y="1544935"/>
            <a:ext cx="4909519" cy="4642247"/>
          </a:xfrm>
          <a:prstGeom prst="roundRect">
            <a:avLst>
              <a:gd name="adj" fmla="val 293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952084" y="1733947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Speed Signals Spending Power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952084" y="2218234"/>
            <a:ext cx="45315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users spend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3.5% more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 on average — a small but statistically meaningful gap that reveals a willingness-to-pay premium.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952084" y="3597970"/>
            <a:ext cx="4531505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avg: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avg: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transaction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$2.02 gap per order across thousands of transactions compounds significantly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52084" y="5109865"/>
            <a:ext cx="45315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bundling express shipping with higher-margin products or premium tiers to capture this spend propensity.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545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Age Group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23888"/>
            <a:ext cx="5247052" cy="37768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9518" y="1408311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Relatively Balanced Age Distribution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89518" y="1772940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is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surprisingly even across age groups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single cohort dominates, suggesting broad product-market fit.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89518" y="2358529"/>
            <a:ext cx="5247052" cy="968970"/>
          </a:xfrm>
          <a:prstGeom prst="roundRect">
            <a:avLst>
              <a:gd name="adj" fmla="val 665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05" y="2545953"/>
            <a:ext cx="191884" cy="153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88377" y="2509044"/>
            <a:ext cx="4594705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narrow $6,380 spread across all age groups suggests age alone is not a strong revenue predictor — behavioral segmentation (loyalty tier, shipping preference) may be more actionable.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462290"/>
            <a:ext cx="3537953" cy="7981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3061" y="5481340"/>
            <a:ext cx="33273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Young Adults — $62,143 (26.6%)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53061" y="5796062"/>
            <a:ext cx="332731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revenue cohort — high engagement, likely influenced by trends and digital channels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7297" y="5462290"/>
            <a:ext cx="3537953" cy="7981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27933" y="5481340"/>
            <a:ext cx="33273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Middle-aged — $59,197 (25.4%)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527933" y="5796062"/>
            <a:ext cx="332731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and consistent; likely the most reliable repeat-purchase segment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2168" y="5462290"/>
            <a:ext cx="3537953" cy="7981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02804" y="5481340"/>
            <a:ext cx="332731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Adults &amp; Seniors — $55,978 / $55,763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202804" y="5796062"/>
            <a:ext cx="332731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Marginally lower but within 12% of the top cohort — an underserved opportunity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2026-09-03T10:23:26Z</dcterms:created>
  <dcterms:modified xsi:type="dcterms:W3CDTF">2026-09-03T10:23:26Z</dcterms:modified>
</cp:coreProperties>
</file>